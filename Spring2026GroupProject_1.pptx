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f9ccd4bcd_4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f9ccd4bcd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19b9f457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19b9f457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19b9f4571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19b9f4571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19ba2e0a0d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19ba2e0a0d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19ba2e0a0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19ba2e0a0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19b9f4571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19b9f4571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19ba2e0a0d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19ba2e0a0d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19ba2e0a0d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19ba2e0a0d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19ba2e0a0d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19ba2e0a0d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9ba2e0a0d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9ba2e0a0d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9ba2e0a0d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9ba2e0a0d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idx="1" type="subTitle"/>
          </p:nvPr>
        </p:nvSpPr>
        <p:spPr>
          <a:xfrm>
            <a:off x="122925" y="1219675"/>
            <a:ext cx="4831500" cy="33471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Autofit/>
          </a:bodyPr>
          <a:lstStyle/>
          <a:p>
            <a:pPr indent="0" lvl="0" marL="0" rtl="0" algn="l">
              <a:lnSpc>
                <a:spcPct val="80000"/>
              </a:lnSpc>
              <a:spcBef>
                <a:spcPts val="0"/>
              </a:spcBef>
              <a:spcAft>
                <a:spcPts val="0"/>
              </a:spcAft>
              <a:buSzPts val="770"/>
              <a:buNone/>
            </a:pPr>
            <a:r>
              <a:rPr lang="en" sz="1900">
                <a:solidFill>
                  <a:schemeClr val="dk1"/>
                </a:solidFill>
              </a:rPr>
              <a:t>Team Name: YDF (</a:t>
            </a:r>
            <a:r>
              <a:rPr lang="en" sz="1900">
                <a:solidFill>
                  <a:schemeClr val="dk1"/>
                </a:solidFill>
              </a:rPr>
              <a:t>BMCC GIS Advising Application)</a:t>
            </a:r>
            <a:endParaRPr sz="1900">
              <a:solidFill>
                <a:schemeClr val="dk1"/>
              </a:solidFill>
            </a:endParaRPr>
          </a:p>
          <a:p>
            <a:pPr indent="0" lvl="0" marL="0" rtl="0" algn="l">
              <a:lnSpc>
                <a:spcPct val="80000"/>
              </a:lnSpc>
              <a:spcBef>
                <a:spcPts val="0"/>
              </a:spcBef>
              <a:spcAft>
                <a:spcPts val="0"/>
              </a:spcAft>
              <a:buSzPts val="770"/>
              <a:buNone/>
            </a:pPr>
            <a:r>
              <a:t/>
            </a:r>
            <a:endParaRPr sz="1900">
              <a:solidFill>
                <a:schemeClr val="dk1"/>
              </a:solidFill>
            </a:endParaRPr>
          </a:p>
          <a:p>
            <a:pPr indent="0" lvl="0" marL="0" rtl="0" algn="l">
              <a:lnSpc>
                <a:spcPct val="80000"/>
              </a:lnSpc>
              <a:spcBef>
                <a:spcPts val="0"/>
              </a:spcBef>
              <a:spcAft>
                <a:spcPts val="0"/>
              </a:spcAft>
              <a:buSzPts val="770"/>
              <a:buNone/>
            </a:pPr>
            <a:r>
              <a:rPr lang="en" sz="1900">
                <a:solidFill>
                  <a:schemeClr val="dk1"/>
                </a:solidFill>
              </a:rPr>
              <a:t>Team Members: Yeffry Fermin, Phyo Oo, Dylan Reaves, Ramim Hussain.</a:t>
            </a:r>
            <a:endParaRPr sz="1900">
              <a:solidFill>
                <a:schemeClr val="dk1"/>
              </a:solidFill>
            </a:endParaRPr>
          </a:p>
        </p:txBody>
      </p:sp>
      <p:sp>
        <p:nvSpPr>
          <p:cNvPr id="55" name="Google Shape;55;p13"/>
          <p:cNvSpPr txBox="1"/>
          <p:nvPr>
            <p:ph type="ctrTitle"/>
          </p:nvPr>
        </p:nvSpPr>
        <p:spPr>
          <a:xfrm>
            <a:off x="122925" y="321450"/>
            <a:ext cx="7885500" cy="813300"/>
          </a:xfrm>
          <a:prstGeom prst="rect">
            <a:avLst/>
          </a:prstGeom>
          <a:gradFill>
            <a:gsLst>
              <a:gs pos="0">
                <a:srgbClr val="D4E5F5"/>
              </a:gs>
              <a:gs pos="100000">
                <a:srgbClr val="70A4D5"/>
              </a:gs>
            </a:gsLst>
            <a:path path="circle">
              <a:fillToRect b="50%" l="50%" r="50%" t="50%"/>
            </a:path>
            <a:tileRect/>
          </a:gradFill>
          <a:ln cap="flat" cmpd="sng" w="9525">
            <a:solidFill>
              <a:schemeClr val="accent6"/>
            </a:solidFill>
            <a:prstDash val="solid"/>
            <a:round/>
            <a:headEnd len="sm" w="sm" type="none"/>
            <a:tailEnd len="sm" w="sm" type="none"/>
          </a:ln>
        </p:spPr>
        <p:txBody>
          <a:bodyPr anchorCtr="0" anchor="b" bIns="91425" lIns="91425" spcFirstLastPara="1" rIns="91425" wrap="square" tIns="91425">
            <a:normAutofit fontScale="90000"/>
          </a:bodyPr>
          <a:lstStyle/>
          <a:p>
            <a:pPr indent="0" lvl="0" marL="0" rtl="0" algn="l">
              <a:spcBef>
                <a:spcPts val="0"/>
              </a:spcBef>
              <a:spcAft>
                <a:spcPts val="0"/>
              </a:spcAft>
              <a:buSzPct val="33000"/>
              <a:buNone/>
            </a:pPr>
            <a:r>
              <a:rPr lang="en" sz="3000"/>
              <a:t>Spring 2026 Advising  Ideathon-Group Project</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207675" y="281275"/>
            <a:ext cx="8520600" cy="818700"/>
          </a:xfrm>
          <a:prstGeom prst="rect">
            <a:avLst/>
          </a:prstGeom>
          <a:gradFill>
            <a:gsLst>
              <a:gs pos="0">
                <a:srgbClr val="D4E5F5"/>
              </a:gs>
              <a:gs pos="100000">
                <a:srgbClr val="70A4D5"/>
              </a:gs>
            </a:gsLst>
            <a:path path="circle">
              <a:fillToRect b="50%" l="50%" r="50%" t="50%"/>
            </a:path>
            <a:tileRect/>
          </a:gradFill>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Team Delegation</a:t>
            </a:r>
            <a:endParaRPr/>
          </a:p>
        </p:txBody>
      </p:sp>
      <p:sp>
        <p:nvSpPr>
          <p:cNvPr id="61" name="Google Shape;61;p14"/>
          <p:cNvSpPr txBox="1"/>
          <p:nvPr>
            <p:ph idx="1" type="subTitle"/>
          </p:nvPr>
        </p:nvSpPr>
        <p:spPr>
          <a:xfrm>
            <a:off x="356850" y="1677750"/>
            <a:ext cx="8431500" cy="31791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400">
                <a:solidFill>
                  <a:schemeClr val="dk1"/>
                </a:solidFill>
              </a:rPr>
              <a:t>Phyo:</a:t>
            </a:r>
            <a:r>
              <a:rPr lang="en" sz="1400">
                <a:solidFill>
                  <a:schemeClr val="dk1"/>
                </a:solidFill>
              </a:rPr>
              <a:t> I am responsible for developing the advising feature for GIS career pathways and helping organize the chatbot structure for students at BMCC. I coordinate team communication, set up meetings.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b="1" lang="en" sz="1400">
                <a:solidFill>
                  <a:schemeClr val="dk1"/>
                </a:solidFill>
              </a:rPr>
              <a:t>Yeffry</a:t>
            </a:r>
            <a:r>
              <a:rPr lang="en" sz="1400">
                <a:solidFill>
                  <a:schemeClr val="dk1"/>
                </a:solidFill>
              </a:rPr>
              <a:t>- </a:t>
            </a:r>
            <a:r>
              <a:rPr lang="en" sz="1400">
                <a:solidFill>
                  <a:schemeClr val="dk1"/>
                </a:solidFill>
              </a:rPr>
              <a:t>I handled the integration between the curriculum data and the student's records, making sure the advisor correctly checks the student's history so it only recommends classes they actually still need to take.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b="1" lang="en" sz="1400">
                <a:solidFill>
                  <a:schemeClr val="dk1"/>
                </a:solidFill>
              </a:rPr>
              <a:t>Dylan: </a:t>
            </a:r>
            <a:r>
              <a:rPr lang="en" sz="1400">
                <a:solidFill>
                  <a:schemeClr val="dk1"/>
                </a:solidFill>
              </a:rPr>
              <a:t>I created the initial logic for the course history class and handled the file I/O used manage student course data. I also worked on adding input validation throughout the program to prevent errors, and made minor adjustments to the interface by formatting the output to be clearer.</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b="1" lang="en" sz="1400">
                <a:solidFill>
                  <a:schemeClr val="dk1"/>
                </a:solidFill>
              </a:rPr>
              <a:t>Ramim: </a:t>
            </a:r>
            <a:r>
              <a:rPr lang="en" sz="1400">
                <a:solidFill>
                  <a:schemeClr val="dk1"/>
                </a:solidFill>
              </a:rPr>
              <a:t>I developed the internship and research modules for the GIS chatbot by organizing BMCC website information into structured classes using header and implementation files. I ensured consistency with the team’s coding structure, making the system easy to expand and integrate with the chatbot interface.</a:t>
            </a:r>
            <a:endParaRPr sz="1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Problem?</a:t>
            </a:r>
            <a:endParaRPr/>
          </a:p>
        </p:txBody>
      </p:sp>
      <p:sp>
        <p:nvSpPr>
          <p:cNvPr id="67" name="Google Shape;67;p15"/>
          <p:cNvSpPr txBox="1"/>
          <p:nvPr>
            <p:ph idx="1" type="body"/>
          </p:nvPr>
        </p:nvSpPr>
        <p:spPr>
          <a:xfrm>
            <a:off x="311700" y="1152475"/>
            <a:ext cx="8520600" cy="34164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b="1" lang="en" sz="1600">
                <a:solidFill>
                  <a:schemeClr val="dk1"/>
                </a:solidFill>
              </a:rPr>
              <a:t>Overall: </a:t>
            </a:r>
            <a:r>
              <a:rPr lang="en" sz="1600">
                <a:solidFill>
                  <a:schemeClr val="dk1"/>
                </a:solidFill>
              </a:rPr>
              <a:t>Advising offices are busy, often not readily available to student, degree maps are confusing, and students are often unsure which classes to take next, especially when deciding between a 2-year or 3-year pace.</a:t>
            </a:r>
            <a:endParaRPr sz="1600">
              <a:solidFill>
                <a:schemeClr val="dk1"/>
              </a:solidFill>
            </a:endParaRPr>
          </a:p>
          <a:p>
            <a:pPr indent="0" lvl="0" marL="0" rtl="0" algn="l">
              <a:spcBef>
                <a:spcPts val="1200"/>
              </a:spcBef>
              <a:spcAft>
                <a:spcPts val="0"/>
              </a:spcAft>
              <a:buClr>
                <a:schemeClr val="dk1"/>
              </a:buClr>
              <a:buSzPct val="78571"/>
              <a:buFont typeface="Arial"/>
              <a:buNone/>
            </a:pPr>
            <a:r>
              <a:rPr b="1" lang="en" sz="1400">
                <a:solidFill>
                  <a:schemeClr val="dk1"/>
                </a:solidFill>
              </a:rPr>
              <a:t>Phyo:</a:t>
            </a:r>
            <a:r>
              <a:rPr lang="en" sz="1400">
                <a:solidFill>
                  <a:schemeClr val="dk1"/>
                </a:solidFill>
              </a:rPr>
              <a:t> Many GIS students are unsure which career path to pursue, so they need clear guidance, real-world insight from working professionals or alumni, and better information about transfer opportunities.</a:t>
            </a:r>
            <a:endParaRPr sz="1400">
              <a:solidFill>
                <a:schemeClr val="dk1"/>
              </a:solidFill>
            </a:endParaRPr>
          </a:p>
          <a:p>
            <a:pPr indent="0" lvl="0" marL="0" rtl="0" algn="l">
              <a:spcBef>
                <a:spcPts val="1200"/>
              </a:spcBef>
              <a:spcAft>
                <a:spcPts val="0"/>
              </a:spcAft>
              <a:buNone/>
            </a:pPr>
            <a:r>
              <a:rPr b="1" lang="en" sz="1400">
                <a:solidFill>
                  <a:schemeClr val="dk1"/>
                </a:solidFill>
              </a:rPr>
              <a:t>Yeffry</a:t>
            </a:r>
            <a:r>
              <a:rPr b="1" lang="en" sz="1600">
                <a:solidFill>
                  <a:schemeClr val="dk1"/>
                </a:solidFill>
              </a:rPr>
              <a:t>:</a:t>
            </a:r>
            <a:r>
              <a:rPr lang="en" sz="1600">
                <a:solidFill>
                  <a:schemeClr val="dk1"/>
                </a:solidFill>
              </a:rPr>
              <a:t> </a:t>
            </a:r>
            <a:r>
              <a:rPr lang="en" sz="1400">
                <a:solidFill>
                  <a:schemeClr val="dk1"/>
                </a:solidFill>
              </a:rPr>
              <a:t>Students need a simpler way to track their completed credits and automatically filter their degree maps, so they don't have to guess which specific requirements they have left to fulfill each semester.</a:t>
            </a:r>
            <a:endParaRPr sz="1400">
              <a:solidFill>
                <a:schemeClr val="dk1"/>
              </a:solidFill>
            </a:endParaRPr>
          </a:p>
          <a:p>
            <a:pPr indent="0" lvl="0" marL="0" rtl="0" algn="l">
              <a:spcBef>
                <a:spcPts val="1200"/>
              </a:spcBef>
              <a:spcAft>
                <a:spcPts val="1200"/>
              </a:spcAft>
              <a:buNone/>
            </a:pPr>
            <a:r>
              <a:rPr b="1" lang="en" sz="1400">
                <a:solidFill>
                  <a:schemeClr val="dk1"/>
                </a:solidFill>
              </a:rPr>
              <a:t>Dylan:</a:t>
            </a:r>
            <a:r>
              <a:rPr lang="en" sz="1400">
                <a:solidFill>
                  <a:schemeClr val="dk1"/>
                </a:solidFill>
              </a:rPr>
              <a:t> Students often struggle to know which completed courses actually count toward their degree requirements, making it difficult to plan which classes they must prioritize. </a:t>
            </a:r>
            <a:br>
              <a:rPr lang="en" sz="1400">
                <a:solidFill>
                  <a:schemeClr val="dk1"/>
                </a:solidFill>
              </a:rPr>
            </a:br>
            <a:br>
              <a:rPr lang="en" sz="1400">
                <a:solidFill>
                  <a:schemeClr val="dk1"/>
                </a:solidFill>
              </a:rPr>
            </a:br>
            <a:r>
              <a:rPr b="1" lang="en" sz="1400">
                <a:solidFill>
                  <a:schemeClr val="dk1"/>
                </a:solidFill>
              </a:rPr>
              <a:t>Ramim:</a:t>
            </a:r>
            <a:r>
              <a:rPr lang="en" sz="1400">
                <a:solidFill>
                  <a:schemeClr val="dk1"/>
                </a:solidFill>
              </a:rPr>
              <a:t> Students often have difficulty finding clear and organized information about internships and research opportunities within the GIS major, making it hard for them to gain practical experience and understand how to apply their knowledge outside the classroom.</a:t>
            </a:r>
            <a:endParaRPr sz="1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your Solution?</a:t>
            </a:r>
            <a:endParaRPr/>
          </a:p>
        </p:txBody>
      </p:sp>
      <p:sp>
        <p:nvSpPr>
          <p:cNvPr id="73" name="Google Shape;73;p16"/>
          <p:cNvSpPr txBox="1"/>
          <p:nvPr>
            <p:ph idx="1" type="body"/>
          </p:nvPr>
        </p:nvSpPr>
        <p:spPr>
          <a:xfrm>
            <a:off x="311700" y="1067375"/>
            <a:ext cx="8520600" cy="34164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Autofit/>
          </a:bodyPr>
          <a:lstStyle/>
          <a:p>
            <a:pPr indent="0" lvl="0" marL="0" rtl="0" algn="l">
              <a:spcBef>
                <a:spcPts val="1200"/>
              </a:spcBef>
              <a:spcAft>
                <a:spcPts val="0"/>
              </a:spcAft>
              <a:buSzPts val="1100"/>
              <a:buNone/>
            </a:pPr>
            <a:r>
              <a:rPr b="1" lang="en" sz="1100">
                <a:solidFill>
                  <a:schemeClr val="dk1"/>
                </a:solidFill>
              </a:rPr>
              <a:t>Overall:</a:t>
            </a:r>
            <a:r>
              <a:rPr lang="en" sz="1100">
                <a:solidFill>
                  <a:schemeClr val="dk1"/>
                </a:solidFill>
              </a:rPr>
              <a:t> </a:t>
            </a:r>
            <a:r>
              <a:rPr b="1" lang="en" sz="1100">
                <a:solidFill>
                  <a:schemeClr val="dk1"/>
                </a:solidFill>
              </a:rPr>
              <a:t>An on-demand GIS chatbot assistant that helps BMCC students get accurate course guidance and track progress toward their 62-credit degree goal. It also brings advising, career pathways, alumni insight, transfer options, and internship or research information into one place.</a:t>
            </a:r>
            <a:endParaRPr b="1" sz="1100">
              <a:solidFill>
                <a:schemeClr val="dk1"/>
              </a:solidFill>
            </a:endParaRPr>
          </a:p>
          <a:p>
            <a:pPr indent="0" lvl="0" marL="0" rtl="0" algn="l">
              <a:spcBef>
                <a:spcPts val="1200"/>
              </a:spcBef>
              <a:spcAft>
                <a:spcPts val="0"/>
              </a:spcAft>
              <a:buSzPts val="1100"/>
              <a:buNone/>
            </a:pPr>
            <a:r>
              <a:rPr b="1" lang="en" sz="1400">
                <a:solidFill>
                  <a:schemeClr val="dk1"/>
                </a:solidFill>
              </a:rPr>
              <a:t>Phyo:</a:t>
            </a:r>
            <a:r>
              <a:rPr lang="en" sz="1400">
                <a:solidFill>
                  <a:schemeClr val="dk1"/>
                </a:solidFill>
              </a:rPr>
              <a:t> My solution is to help create a chatbot that gives GIS students easy access to advising support, career pathway guidance, alumni insight, and transfer information in one place. </a:t>
            </a:r>
            <a:endParaRPr sz="1400">
              <a:solidFill>
                <a:schemeClr val="dk1"/>
              </a:solidFill>
            </a:endParaRPr>
          </a:p>
          <a:p>
            <a:pPr indent="0" lvl="0" marL="0" rtl="0" algn="l">
              <a:lnSpc>
                <a:spcPct val="95000"/>
              </a:lnSpc>
              <a:spcBef>
                <a:spcPts val="1200"/>
              </a:spcBef>
              <a:spcAft>
                <a:spcPts val="0"/>
              </a:spcAft>
              <a:buSzPts val="852"/>
              <a:buNone/>
            </a:pPr>
            <a:r>
              <a:rPr b="1" lang="en" sz="1400">
                <a:solidFill>
                  <a:schemeClr val="dk1"/>
                </a:solidFill>
              </a:rPr>
              <a:t>Yeffry:</a:t>
            </a:r>
            <a:r>
              <a:rPr lang="en" sz="1400">
                <a:solidFill>
                  <a:schemeClr val="dk1"/>
                </a:solidFill>
              </a:rPr>
              <a:t> Built the advising controller that connects the student's personal profile to the curriculum, using their saved history to automatically filter out completed courses and generate a custom path to graduation.</a:t>
            </a:r>
            <a:endParaRPr sz="1400">
              <a:solidFill>
                <a:schemeClr val="dk1"/>
              </a:solidFill>
            </a:endParaRPr>
          </a:p>
          <a:p>
            <a:pPr indent="0" lvl="0" marL="0" rtl="0" algn="l">
              <a:lnSpc>
                <a:spcPct val="95000"/>
              </a:lnSpc>
              <a:spcBef>
                <a:spcPts val="1200"/>
              </a:spcBef>
              <a:spcAft>
                <a:spcPts val="0"/>
              </a:spcAft>
              <a:buSzPts val="852"/>
              <a:buNone/>
            </a:pPr>
            <a:r>
              <a:rPr b="1" lang="en" sz="1400">
                <a:solidFill>
                  <a:schemeClr val="dk1"/>
                </a:solidFill>
              </a:rPr>
              <a:t>Dylan: </a:t>
            </a:r>
            <a:r>
              <a:rPr lang="en" sz="1400">
                <a:solidFill>
                  <a:schemeClr val="dk1"/>
                </a:solidFill>
              </a:rPr>
              <a:t>Developed the course history feature that allows students to save their completed courses to a file so they can easily see which courses count toward their degree and plan future semesters.</a:t>
            </a:r>
            <a:endParaRPr sz="1400">
              <a:solidFill>
                <a:schemeClr val="dk1"/>
              </a:solidFill>
            </a:endParaRPr>
          </a:p>
          <a:p>
            <a:pPr indent="0" lvl="0" marL="0" rtl="0" algn="l">
              <a:lnSpc>
                <a:spcPct val="95000"/>
              </a:lnSpc>
              <a:spcBef>
                <a:spcPts val="1200"/>
              </a:spcBef>
              <a:spcAft>
                <a:spcPts val="0"/>
              </a:spcAft>
              <a:buSzPts val="852"/>
              <a:buNone/>
            </a:pPr>
            <a:r>
              <a:rPr b="1" lang="en" sz="1400">
                <a:solidFill>
                  <a:schemeClr val="dk1"/>
                </a:solidFill>
              </a:rPr>
              <a:t>Ramim: </a:t>
            </a:r>
            <a:r>
              <a:rPr lang="en" sz="1400">
                <a:solidFill>
                  <a:schemeClr val="dk1"/>
                </a:solidFill>
              </a:rPr>
              <a:t>I developed structured internship and research modules within the GIS chatbot that compile and present BMCC-specific information in a clear and organized way, making it easier for students to quickly access opportunities, understand requirements, and explore ways to gain practical experience.</a:t>
            </a:r>
            <a:endParaRPr sz="1400">
              <a:solidFill>
                <a:schemeClr val="dk1"/>
              </a:solidFill>
            </a:endParaRPr>
          </a:p>
          <a:p>
            <a:pPr indent="0" lvl="0" marL="457200" rtl="0" algn="l">
              <a:lnSpc>
                <a:spcPct val="95000"/>
              </a:lnSpc>
              <a:spcBef>
                <a:spcPts val="1200"/>
              </a:spcBef>
              <a:spcAft>
                <a:spcPts val="0"/>
              </a:spcAft>
              <a:buNone/>
            </a:pPr>
            <a:r>
              <a:t/>
            </a:r>
            <a:endParaRPr sz="1400">
              <a:solidFill>
                <a:schemeClr val="dk1"/>
              </a:solidFill>
            </a:endParaRPr>
          </a:p>
          <a:p>
            <a:pPr indent="0" lvl="0" marL="0" rtl="0" algn="l">
              <a:lnSpc>
                <a:spcPct val="95000"/>
              </a:lnSpc>
              <a:spcBef>
                <a:spcPts val="1200"/>
              </a:spcBef>
              <a:spcAft>
                <a:spcPts val="1200"/>
              </a:spcAft>
              <a:buSzPts val="852"/>
              <a:buNone/>
            </a:pPr>
            <a:r>
              <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311700" y="378850"/>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sz="2500">
                <a:solidFill>
                  <a:srgbClr val="192325"/>
                </a:solidFill>
              </a:rPr>
              <a:t>What does your solution do?</a:t>
            </a:r>
            <a:endParaRPr sz="2500">
              <a:solidFill>
                <a:srgbClr val="192325"/>
              </a:solidFill>
            </a:endParaRPr>
          </a:p>
          <a:p>
            <a:pPr indent="0" lvl="0" marL="0" rtl="0" algn="l">
              <a:spcBef>
                <a:spcPts val="100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n" sz="1400">
                <a:solidFill>
                  <a:schemeClr val="dk1"/>
                </a:solidFill>
              </a:rPr>
              <a:t>Overall: </a:t>
            </a:r>
            <a:r>
              <a:rPr lang="en" sz="1300">
                <a:solidFill>
                  <a:schemeClr val="dk1"/>
                </a:solidFill>
              </a:rPr>
              <a:t>The impact of our solution is that it can make advising more accessible, reduce student confusion, and help GIS students make better academic and career decisions. By giving students faster, clearer, and more personalized support, it can save time, reduce unnecessary course mistakes, and improve the overall student experience.</a:t>
            </a:r>
            <a:endParaRPr sz="1300">
              <a:solidFill>
                <a:schemeClr val="dk1"/>
              </a:solidFill>
            </a:endParaRPr>
          </a:p>
          <a:p>
            <a:pPr indent="0" lvl="0" marL="0" rtl="0" algn="l">
              <a:spcBef>
                <a:spcPts val="1200"/>
              </a:spcBef>
              <a:spcAft>
                <a:spcPts val="0"/>
              </a:spcAft>
              <a:buNone/>
            </a:pPr>
            <a:r>
              <a:rPr b="1" lang="en" sz="1200">
                <a:solidFill>
                  <a:schemeClr val="dk1"/>
                </a:solidFill>
              </a:rPr>
              <a:t>Phyo:</a:t>
            </a:r>
            <a:r>
              <a:rPr lang="en" sz="1200">
                <a:solidFill>
                  <a:schemeClr val="dk1"/>
                </a:solidFill>
              </a:rPr>
              <a:t> My solution helps improve students’ academic planning by giving GIS students one place to access advising support, career guidance, alumni insight, and transfer information. It makes the student experience clearer and easier.</a:t>
            </a:r>
            <a:endParaRPr sz="1200">
              <a:solidFill>
                <a:schemeClr val="dk1"/>
              </a:solidFill>
            </a:endParaRPr>
          </a:p>
          <a:p>
            <a:pPr indent="0" lvl="0" marL="0" rtl="0" algn="l">
              <a:spcBef>
                <a:spcPts val="1200"/>
              </a:spcBef>
              <a:spcAft>
                <a:spcPts val="0"/>
              </a:spcAft>
              <a:buNone/>
            </a:pPr>
            <a:r>
              <a:rPr b="1" lang="en" sz="1200">
                <a:solidFill>
                  <a:schemeClr val="dk1"/>
                </a:solidFill>
              </a:rPr>
              <a:t>Yeffry</a:t>
            </a:r>
            <a:r>
              <a:rPr lang="en" sz="1200">
                <a:solidFill>
                  <a:schemeClr val="dk1"/>
                </a:solidFill>
              </a:rPr>
              <a:t>: My solution provides a personalized academic roadmap by syncing the student’s profile with the curriculum database to automatically filter out completed requirements and display a clear path for the upcoming semester.</a:t>
            </a:r>
            <a:endParaRPr sz="1200">
              <a:solidFill>
                <a:schemeClr val="dk1"/>
              </a:solidFill>
            </a:endParaRPr>
          </a:p>
          <a:p>
            <a:pPr indent="0" lvl="0" marL="0" rtl="0" algn="l">
              <a:spcBef>
                <a:spcPts val="1200"/>
              </a:spcBef>
              <a:spcAft>
                <a:spcPts val="0"/>
              </a:spcAft>
              <a:buNone/>
            </a:pPr>
            <a:r>
              <a:rPr b="1" lang="en" sz="1200">
                <a:solidFill>
                  <a:schemeClr val="dk1"/>
                </a:solidFill>
              </a:rPr>
              <a:t>Dylan: </a:t>
            </a:r>
            <a:r>
              <a:rPr lang="en" sz="1200">
                <a:solidFill>
                  <a:schemeClr val="dk1"/>
                </a:solidFill>
              </a:rPr>
              <a:t>My solution provides a course history feature that connects student’s completed courses to the degree map which helps them track their progress and plan their next steps in their degree.</a:t>
            </a:r>
            <a:endParaRPr sz="1200">
              <a:solidFill>
                <a:schemeClr val="dk1"/>
              </a:solidFill>
            </a:endParaRPr>
          </a:p>
          <a:p>
            <a:pPr indent="0" lvl="0" marL="0" rtl="0" algn="l">
              <a:spcBef>
                <a:spcPts val="1200"/>
              </a:spcBef>
              <a:spcAft>
                <a:spcPts val="1200"/>
              </a:spcAft>
              <a:buNone/>
            </a:pPr>
            <a:r>
              <a:rPr b="1" lang="en" sz="1200">
                <a:solidFill>
                  <a:schemeClr val="dk1"/>
                </a:solidFill>
              </a:rPr>
              <a:t>Ramim: </a:t>
            </a:r>
            <a:r>
              <a:rPr lang="en" sz="1200">
                <a:solidFill>
                  <a:schemeClr val="dk1"/>
                </a:solidFill>
              </a:rPr>
              <a:t>My solution allows students to quickly access clear information about GIS internships and research opportunities through the chatbot, helping them understand available options, requirements, and resources without needing to search through multiple pages.</a:t>
            </a:r>
            <a:endParaRPr sz="1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sz="2500">
                <a:solidFill>
                  <a:srgbClr val="192325"/>
                </a:solidFill>
              </a:rPr>
              <a:t>Why did you settle on this solution?</a:t>
            </a:r>
            <a:endParaRPr sz="2500">
              <a:solidFill>
                <a:srgbClr val="192325"/>
              </a:solidFill>
            </a:endParaRPr>
          </a:p>
          <a:p>
            <a:pPr indent="0" lvl="0" marL="0" rtl="0" algn="l">
              <a:spcBef>
                <a:spcPts val="100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200">
                <a:solidFill>
                  <a:schemeClr val="dk1"/>
                </a:solidFill>
              </a:rPr>
              <a:t>Phyo:</a:t>
            </a:r>
            <a:r>
              <a:rPr lang="en" sz="1200">
                <a:solidFill>
                  <a:schemeClr val="dk1"/>
                </a:solidFill>
              </a:rPr>
              <a:t> I chose this solution because students need clear career pathways, motivation from real professionals, and a simple roadmap for transfer options. It can improve the student learning experience by making guidance more accessible, encouraging, and easy to follow.</a:t>
            </a:r>
            <a:endParaRPr sz="12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Yeffry:</a:t>
            </a:r>
            <a:r>
              <a:rPr lang="en" sz="1200">
                <a:solidFill>
                  <a:schemeClr val="dk1"/>
                </a:solidFill>
              </a:rPr>
              <a:t> I chose this approach to eliminate manual checking, creating an automated link between the student’s profile and the curriculum so the bot can make intelligent, data-driven decisions about their next semester.</a:t>
            </a:r>
            <a:endParaRPr sz="12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Dylan:</a:t>
            </a:r>
            <a:r>
              <a:rPr lang="en" sz="1200">
                <a:solidFill>
                  <a:schemeClr val="dk1"/>
                </a:solidFill>
              </a:rPr>
              <a:t> I chose this solution because it simplifies the planning process by reducing the effort students need to track their completed courses and remaining requirements.</a:t>
            </a:r>
            <a:endParaRPr sz="1200">
              <a:solidFill>
                <a:schemeClr val="dk1"/>
              </a:solidFill>
            </a:endParaRPr>
          </a:p>
          <a:p>
            <a:pPr indent="0" lvl="0" marL="0" rtl="0" algn="l">
              <a:spcBef>
                <a:spcPts val="1200"/>
              </a:spcBef>
              <a:spcAft>
                <a:spcPts val="1200"/>
              </a:spcAft>
              <a:buClr>
                <a:schemeClr val="dk1"/>
              </a:buClr>
              <a:buSzPts val="1100"/>
              <a:buFont typeface="Arial"/>
              <a:buNone/>
            </a:pPr>
            <a:r>
              <a:rPr b="1" lang="en" sz="1200">
                <a:solidFill>
                  <a:schemeClr val="dk1"/>
                </a:solidFill>
              </a:rPr>
              <a:t>Ramim: </a:t>
            </a:r>
            <a:r>
              <a:rPr lang="en" sz="1200">
                <a:solidFill>
                  <a:schemeClr val="dk1"/>
                </a:solidFill>
              </a:rPr>
              <a:t>I chose this solution because the information about internships and research is scattered and not easy for students to find, so organizing it into a simple chatbot makes it quicker and more accessible, helping students get the information they need without confusion.</a:t>
            </a:r>
            <a:endParaRPr sz="1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can technology help with solving this problem?</a:t>
            </a:r>
            <a:endParaRPr/>
          </a:p>
        </p:txBody>
      </p:sp>
      <p:sp>
        <p:nvSpPr>
          <p:cNvPr id="91" name="Google Shape;91;p19"/>
          <p:cNvSpPr txBox="1"/>
          <p:nvPr>
            <p:ph idx="1" type="body"/>
          </p:nvPr>
        </p:nvSpPr>
        <p:spPr>
          <a:xfrm>
            <a:off x="311700" y="1152475"/>
            <a:ext cx="8520600" cy="34164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600">
                <a:solidFill>
                  <a:schemeClr val="dk1"/>
                </a:solidFill>
              </a:rPr>
              <a:t>24/7 Availability: Unlike a physical advising office, software doesn't have operating hours. Students can access their customized degree plans at any time.</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Instant Data Processing: The program can filter through arrays of course data in milliseconds, instantly matching a student's track (2-year vs. 3-year) to the correct curriculum.</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1600">
                <a:solidFill>
                  <a:schemeClr val="dk1"/>
                </a:solidFill>
              </a:rPr>
              <a:t>Error Prevention: Technology removes human error. The system can be programmed to automatically flag missing prerequisites (like trying to take GIS 361 before GIS 261), stopping students from making costly scheduling mistakes.</a:t>
            </a:r>
            <a:endParaRPr sz="16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20"/>
          <p:cNvSpPr txBox="1"/>
          <p:nvPr>
            <p:ph type="title"/>
          </p:nvPr>
        </p:nvSpPr>
        <p:spPr>
          <a:xfrm>
            <a:off x="396775" y="445025"/>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sz="2500">
                <a:solidFill>
                  <a:srgbClr val="192325"/>
                </a:solidFill>
              </a:rPr>
              <a:t>How would you build your solution?</a:t>
            </a:r>
            <a:endParaRPr sz="2500">
              <a:solidFill>
                <a:srgbClr val="192325"/>
              </a:solidFill>
            </a:endParaRPr>
          </a:p>
          <a:p>
            <a:pPr indent="0" lvl="0" marL="0" rtl="0" algn="l">
              <a:spcBef>
                <a:spcPts val="1000"/>
              </a:spcBef>
              <a:spcAft>
                <a:spcPts val="0"/>
              </a:spcAft>
              <a:buNone/>
            </a:pPr>
            <a:r>
              <a:t/>
            </a:r>
            <a:endParaRPr/>
          </a:p>
        </p:txBody>
      </p:sp>
      <p:sp>
        <p:nvSpPr>
          <p:cNvPr id="97" name="Google Shape;97;p20"/>
          <p:cNvSpPr txBox="1"/>
          <p:nvPr>
            <p:ph idx="1" type="body"/>
          </p:nvPr>
        </p:nvSpPr>
        <p:spPr>
          <a:xfrm>
            <a:off x="311700" y="1152475"/>
            <a:ext cx="8520600" cy="3416400"/>
          </a:xfrm>
          <a:prstGeom prst="rect">
            <a:avLst/>
          </a:prstGeom>
          <a:gradFill>
            <a:gsLst>
              <a:gs pos="0">
                <a:srgbClr val="D4E5F5"/>
              </a:gs>
              <a:gs pos="100000">
                <a:srgbClr val="70A4D5"/>
              </a:gs>
            </a:gsLst>
            <a:lin ang="5400012" scaled="0"/>
          </a:gradFill>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200">
                <a:solidFill>
                  <a:schemeClr val="dk1"/>
                </a:solidFill>
              </a:rPr>
              <a:t>Phyo:</a:t>
            </a:r>
            <a:r>
              <a:rPr lang="en" sz="1200">
                <a:solidFill>
                  <a:schemeClr val="dk1"/>
                </a:solidFill>
              </a:rPr>
              <a:t> I would build this solution by collecting important information from school webpages and LinkedIn alumni experiences, then organizing it in C++ container structures and later storing it in files. The chatbot would process that data to give students filtered, concise, and helpful answers based on their needs.</a:t>
            </a:r>
            <a:endParaRPr sz="12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Yeffry:</a:t>
            </a:r>
            <a:r>
              <a:rPr lang="en" sz="1100">
                <a:solidFill>
                  <a:schemeClr val="dk1"/>
                </a:solidFill>
              </a:rPr>
              <a:t> I would build this by connecting the student profile to the GIS curriculum so the chatbot can filter completed courses and suggest the next steps. It would use C++ logic and saved data to create a more personalized path to graduation.</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Dylan:</a:t>
            </a:r>
            <a:r>
              <a:rPr lang="en" sz="1100">
                <a:solidFill>
                  <a:schemeClr val="dk1"/>
                </a:solidFill>
              </a:rPr>
              <a:t> I would build this by creating a course history feature that saves completed classes and reads them from a file. This helps the chatbot track progress and show students what courses they still need.</a:t>
            </a:r>
            <a:endParaRPr b="1" sz="1200">
              <a:solidFill>
                <a:schemeClr val="dk1"/>
              </a:solidFill>
            </a:endParaRPr>
          </a:p>
          <a:p>
            <a:pPr indent="0" lvl="0" marL="0" rtl="0" algn="l">
              <a:spcBef>
                <a:spcPts val="1200"/>
              </a:spcBef>
              <a:spcAft>
                <a:spcPts val="1200"/>
              </a:spcAft>
              <a:buClr>
                <a:schemeClr val="dk1"/>
              </a:buClr>
              <a:buSzPts val="1100"/>
              <a:buFont typeface="Arial"/>
              <a:buNone/>
            </a:pPr>
            <a:r>
              <a:rPr b="1" lang="en" sz="1200">
                <a:solidFill>
                  <a:schemeClr val="dk1"/>
                </a:solidFill>
              </a:rPr>
              <a:t>Ramim: </a:t>
            </a:r>
            <a:r>
              <a:rPr lang="en" sz="1200">
                <a:solidFill>
                  <a:schemeClr val="dk1"/>
                </a:solidFill>
              </a:rPr>
              <a:t>I would build this solution by collecting internship and research information directly from the BMCC GIS webpages and organizing it into C++ vectors within separate classes. Using header and implementation files, the chatbot can retrieve and display this information through simple functions, making it easy to access, maintain, and expand as new opportunities are added.</a:t>
            </a:r>
            <a:endParaRPr sz="1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990"/>
              <a:buFont typeface="Arial"/>
              <a:buNone/>
            </a:pPr>
            <a:r>
              <a:rPr lang="en" sz="2480">
                <a:solidFill>
                  <a:srgbClr val="192325"/>
                </a:solidFill>
              </a:rPr>
              <a:t>List challenges encountered during the development stage</a:t>
            </a:r>
            <a:endParaRPr sz="2480">
              <a:solidFill>
                <a:srgbClr val="192325"/>
              </a:solidFill>
            </a:endParaRPr>
          </a:p>
          <a:p>
            <a:pPr indent="0" lvl="0" marL="0" rtl="0" algn="l">
              <a:spcBef>
                <a:spcPts val="1000"/>
              </a:spcBef>
              <a:spcAft>
                <a:spcPts val="0"/>
              </a:spcAft>
              <a:buSzPts val="990"/>
              <a:buNone/>
            </a:pPr>
            <a:r>
              <a:t/>
            </a:r>
            <a:endParaRPr sz="2520"/>
          </a:p>
        </p:txBody>
      </p:sp>
      <p:sp>
        <p:nvSpPr>
          <p:cNvPr id="103" name="Google Shape;103;p21"/>
          <p:cNvSpPr txBox="1"/>
          <p:nvPr>
            <p:ph idx="1" type="body"/>
          </p:nvPr>
        </p:nvSpPr>
        <p:spPr>
          <a:xfrm>
            <a:off x="311700" y="1152475"/>
            <a:ext cx="8520600" cy="34164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a:bodyPr>
          <a:lstStyle/>
          <a:p>
            <a:pPr indent="-355600" lvl="0" marL="457200" rtl="0" algn="l">
              <a:spcBef>
                <a:spcPts val="1200"/>
              </a:spcBef>
              <a:spcAft>
                <a:spcPts val="0"/>
              </a:spcAft>
              <a:buClr>
                <a:schemeClr val="dk1"/>
              </a:buClr>
              <a:buSzPts val="2000"/>
              <a:buChar char="●"/>
            </a:pPr>
            <a:r>
              <a:rPr b="1" lang="en" sz="1400">
                <a:solidFill>
                  <a:schemeClr val="dk1"/>
                </a:solidFill>
              </a:rPr>
              <a:t>Yeffry:</a:t>
            </a:r>
            <a:r>
              <a:rPr lang="en" sz="1400">
                <a:solidFill>
                  <a:schemeClr val="dk1"/>
                </a:solidFill>
              </a:rPr>
              <a:t> Integrating each members code to fit the main skeleton was a big challenge, stuff needed to be changed and the the advising logic was very difficult to navigate with limited time. Another big problem was working without github, it became problematic with everyone having their own files.</a:t>
            </a:r>
            <a:endParaRPr sz="1400">
              <a:solidFill>
                <a:schemeClr val="dk1"/>
              </a:solidFill>
            </a:endParaRPr>
          </a:p>
          <a:p>
            <a:pPr indent="-355600" lvl="0" marL="457200" rtl="0" algn="l">
              <a:spcBef>
                <a:spcPts val="0"/>
              </a:spcBef>
              <a:spcAft>
                <a:spcPts val="0"/>
              </a:spcAft>
              <a:buClr>
                <a:schemeClr val="dk1"/>
              </a:buClr>
              <a:buSzPts val="2000"/>
              <a:buChar char="●"/>
            </a:pPr>
            <a:r>
              <a:rPr b="1" lang="en" sz="1400">
                <a:solidFill>
                  <a:schemeClr val="dk1"/>
                </a:solidFill>
              </a:rPr>
              <a:t>Phyo:</a:t>
            </a:r>
            <a:r>
              <a:rPr lang="en" sz="1400">
                <a:solidFill>
                  <a:schemeClr val="dk1"/>
                </a:solidFill>
              </a:rPr>
              <a:t> Being a team lead for my first group project was challenging. Integrating separate features into one main program, understanding documentation, and setting a clear project timeline were all challenges.</a:t>
            </a:r>
            <a:endParaRPr sz="1400">
              <a:solidFill>
                <a:schemeClr val="dk1"/>
              </a:solidFill>
            </a:endParaRPr>
          </a:p>
          <a:p>
            <a:pPr indent="-355600" lvl="0" marL="457200" rtl="0" algn="l">
              <a:spcBef>
                <a:spcPts val="0"/>
              </a:spcBef>
              <a:spcAft>
                <a:spcPts val="0"/>
              </a:spcAft>
              <a:buClr>
                <a:schemeClr val="dk1"/>
              </a:buClr>
              <a:buSzPts val="2000"/>
              <a:buChar char="●"/>
            </a:pPr>
            <a:r>
              <a:rPr b="1" lang="en" sz="1400">
                <a:solidFill>
                  <a:schemeClr val="dk1"/>
                </a:solidFill>
              </a:rPr>
              <a:t>Dylan: </a:t>
            </a:r>
            <a:r>
              <a:rPr lang="en" sz="1400">
                <a:solidFill>
                  <a:schemeClr val="dk1"/>
                </a:solidFill>
              </a:rPr>
              <a:t>One challenge was figuring out the best way to implement my code and ensure it integrated well with my group members’ parts of the program. </a:t>
            </a:r>
            <a:endParaRPr sz="1400">
              <a:solidFill>
                <a:schemeClr val="dk1"/>
              </a:solidFill>
            </a:endParaRPr>
          </a:p>
          <a:p>
            <a:pPr indent="-330200" lvl="0" marL="457200" rtl="0" algn="l">
              <a:spcBef>
                <a:spcPts val="0"/>
              </a:spcBef>
              <a:spcAft>
                <a:spcPts val="0"/>
              </a:spcAft>
              <a:buClr>
                <a:schemeClr val="dk1"/>
              </a:buClr>
              <a:buSzPts val="1600"/>
              <a:buChar char="●"/>
            </a:pPr>
            <a:r>
              <a:rPr b="1" lang="en" sz="1300">
                <a:solidFill>
                  <a:schemeClr val="dk1"/>
                </a:solidFill>
              </a:rPr>
              <a:t>Ramim:</a:t>
            </a:r>
            <a:r>
              <a:rPr lang="en" sz="1300">
                <a:solidFill>
                  <a:schemeClr val="dk1"/>
                </a:solidFill>
              </a:rPr>
              <a:t> One challenge I encountered was collecting internship and research information from BMCC GIS webpages and organizing it clearly into separate C++ classes and vectors. </a:t>
            </a:r>
            <a:endParaRPr sz="1300">
              <a:solidFill>
                <a:schemeClr val="dk1"/>
              </a:solidFill>
            </a:endParaRPr>
          </a:p>
          <a:p>
            <a:pPr indent="0" lvl="0" marL="457200" rtl="0" algn="l">
              <a:spcBef>
                <a:spcPts val="1200"/>
              </a:spcBef>
              <a:spcAft>
                <a:spcPts val="1200"/>
              </a:spcAft>
              <a:buNone/>
            </a:pPr>
            <a:r>
              <a:t/>
            </a:r>
            <a:endParaRPr b="1" sz="14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fontScale="90000"/>
          </a:bodyPr>
          <a:lstStyle/>
          <a:p>
            <a:pPr indent="0" lvl="0" marL="0" rtl="0" algn="l">
              <a:lnSpc>
                <a:spcPct val="125000"/>
              </a:lnSpc>
              <a:spcBef>
                <a:spcPts val="0"/>
              </a:spcBef>
              <a:spcAft>
                <a:spcPts val="0"/>
              </a:spcAft>
              <a:buClr>
                <a:schemeClr val="dk1"/>
              </a:buClr>
              <a:buSzPct val="38372"/>
              <a:buFont typeface="Arial"/>
              <a:buNone/>
            </a:pPr>
            <a:r>
              <a:rPr lang="en" sz="2866">
                <a:solidFill>
                  <a:srgbClr val="192325"/>
                </a:solidFill>
              </a:rPr>
              <a:t>List anything you learned while working on this solution</a:t>
            </a:r>
            <a:endParaRPr sz="2866">
              <a:solidFill>
                <a:srgbClr val="192325"/>
              </a:solidFill>
            </a:endParaRPr>
          </a:p>
          <a:p>
            <a:pPr indent="0" lvl="0" marL="0" rtl="0" algn="l">
              <a:lnSpc>
                <a:spcPct val="115000"/>
              </a:lnSpc>
              <a:spcBef>
                <a:spcPts val="10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sz="2577"/>
          </a:p>
        </p:txBody>
      </p:sp>
      <p:sp>
        <p:nvSpPr>
          <p:cNvPr id="109" name="Google Shape;109;p22"/>
          <p:cNvSpPr txBox="1"/>
          <p:nvPr>
            <p:ph idx="1" type="body"/>
          </p:nvPr>
        </p:nvSpPr>
        <p:spPr>
          <a:xfrm>
            <a:off x="311700" y="1152475"/>
            <a:ext cx="8520600" cy="34164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b="1" lang="en" sz="1400">
                <a:solidFill>
                  <a:schemeClr val="dk1"/>
                </a:solidFill>
              </a:rPr>
              <a:t>Yeffry:</a:t>
            </a:r>
            <a:r>
              <a:rPr lang="en" sz="1400">
                <a:solidFill>
                  <a:schemeClr val="dk1"/>
                </a:solidFill>
              </a:rPr>
              <a:t> This project showed me that I still have a lot to learn about state management and error-free data flow. Moving forward, I plan to dive deeper into this topic to make sure my next project is way more organized.</a:t>
            </a:r>
            <a:endParaRPr sz="1400">
              <a:solidFill>
                <a:schemeClr val="dk1"/>
              </a:solidFill>
            </a:endParaRPr>
          </a:p>
          <a:p>
            <a:pPr indent="-342900" lvl="0" marL="457200" rtl="0" algn="l">
              <a:spcBef>
                <a:spcPts val="0"/>
              </a:spcBef>
              <a:spcAft>
                <a:spcPts val="0"/>
              </a:spcAft>
              <a:buClr>
                <a:schemeClr val="dk1"/>
              </a:buClr>
              <a:buSzPts val="1800"/>
              <a:buChar char="●"/>
            </a:pPr>
            <a:r>
              <a:rPr b="1" lang="en" sz="1400">
                <a:solidFill>
                  <a:schemeClr val="dk1"/>
                </a:solidFill>
              </a:rPr>
              <a:t>Phyo:</a:t>
            </a:r>
            <a:r>
              <a:rPr lang="en" sz="1400">
                <a:solidFill>
                  <a:schemeClr val="dk1"/>
                </a:solidFill>
              </a:rPr>
              <a:t> I learned how important communication, teamwork, and time management are in building a successful group project. It also gave me a new perspective beyond just coding and showed me the value of working collaboratively instead of always working solo.</a:t>
            </a:r>
            <a:endParaRPr sz="1400">
              <a:solidFill>
                <a:schemeClr val="dk1"/>
              </a:solidFill>
            </a:endParaRPr>
          </a:p>
          <a:p>
            <a:pPr indent="-342900" lvl="0" marL="457200" rtl="0" algn="l">
              <a:spcBef>
                <a:spcPts val="0"/>
              </a:spcBef>
              <a:spcAft>
                <a:spcPts val="0"/>
              </a:spcAft>
              <a:buClr>
                <a:schemeClr val="dk1"/>
              </a:buClr>
              <a:buSzPts val="1800"/>
              <a:buChar char="●"/>
            </a:pPr>
            <a:r>
              <a:rPr b="1" lang="en" sz="1400">
                <a:solidFill>
                  <a:schemeClr val="dk1"/>
                </a:solidFill>
              </a:rPr>
              <a:t>Dylan:</a:t>
            </a:r>
            <a:r>
              <a:rPr lang="en" sz="1400">
                <a:solidFill>
                  <a:schemeClr val="dk1"/>
                </a:solidFill>
              </a:rPr>
              <a:t> I learned that because our team was well-coordinated and focused on our individual parts, integrating everything together was much easier than I initially expected which shows the value of good communication.</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Ramim: </a:t>
            </a:r>
            <a:r>
              <a:rPr lang="en" sz="1400">
                <a:solidFill>
                  <a:schemeClr val="dk1"/>
                </a:solidFill>
              </a:rPr>
              <a:t>I learned how to structure a program using header and implementation files and how to organize real-world information into C++ data structures like vectors. I also learned the importance of keeping code consistent with the team’s structure so everything integrates smoothly.</a:t>
            </a:r>
            <a:endParaRPr sz="14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en" sz="2200"/>
              <a:t> List any accomplishments your team had working on this project</a:t>
            </a:r>
            <a:endParaRPr sz="2200">
              <a:solidFill>
                <a:srgbClr val="192325"/>
              </a:solidFill>
            </a:endParaRPr>
          </a:p>
          <a:p>
            <a:pPr indent="0" lvl="0" marL="0" rtl="0" algn="l">
              <a:lnSpc>
                <a:spcPct val="115000"/>
              </a:lnSpc>
              <a:spcBef>
                <a:spcPts val="0"/>
              </a:spcBef>
              <a:spcAft>
                <a:spcPts val="0"/>
              </a:spcAft>
              <a:buClr>
                <a:schemeClr val="dk1"/>
              </a:buClr>
              <a:buSzPts val="990"/>
              <a:buFont typeface="Arial"/>
              <a:buNone/>
            </a:pPr>
            <a:r>
              <a:t/>
            </a:r>
            <a:endParaRPr sz="2200"/>
          </a:p>
          <a:p>
            <a:pPr indent="0" lvl="0" marL="0" rtl="0" algn="l">
              <a:spcBef>
                <a:spcPts val="0"/>
              </a:spcBef>
              <a:spcAft>
                <a:spcPts val="0"/>
              </a:spcAft>
              <a:buSzPts val="990"/>
              <a:buNone/>
            </a:pPr>
            <a:r>
              <a:t/>
            </a:r>
            <a:endParaRPr sz="2200"/>
          </a:p>
        </p:txBody>
      </p:sp>
      <p:sp>
        <p:nvSpPr>
          <p:cNvPr id="115" name="Google Shape;115;p23"/>
          <p:cNvSpPr txBox="1"/>
          <p:nvPr>
            <p:ph idx="1" type="body"/>
          </p:nvPr>
        </p:nvSpPr>
        <p:spPr>
          <a:xfrm>
            <a:off x="311700" y="1152475"/>
            <a:ext cx="8520600" cy="34164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a:bodyPr>
          <a:lstStyle/>
          <a:p>
            <a:pPr indent="-355600" lvl="0" marL="457200" rtl="0" algn="l">
              <a:spcBef>
                <a:spcPts val="1200"/>
              </a:spcBef>
              <a:spcAft>
                <a:spcPts val="0"/>
              </a:spcAft>
              <a:buSzPts val="2000"/>
              <a:buChar char="●"/>
            </a:pPr>
            <a:r>
              <a:rPr b="1" lang="en" sz="1300">
                <a:solidFill>
                  <a:schemeClr val="dk1"/>
                </a:solidFill>
              </a:rPr>
              <a:t>As a Team:</a:t>
            </a:r>
            <a:r>
              <a:rPr lang="en" sz="1300">
                <a:solidFill>
                  <a:schemeClr val="dk1"/>
                </a:solidFill>
              </a:rPr>
              <a:t> Our team built trust, understanding, and stronger collaboration throughout this project. I also learned that emotions can be just as sensitive as code, but with shared goals and good communication, we were able to create something meaningful together through our advising app.</a:t>
            </a:r>
            <a:endParaRPr sz="1300">
              <a:solidFill>
                <a:schemeClr val="dk1"/>
              </a:solidFill>
            </a:endParaRPr>
          </a:p>
          <a:p>
            <a:pPr indent="0" lvl="0" marL="457200" rtl="0" algn="l">
              <a:spcBef>
                <a:spcPts val="1200"/>
              </a:spcBef>
              <a:spcAft>
                <a:spcPts val="1200"/>
              </a:spcAft>
              <a:buNone/>
            </a:pPr>
            <a:r>
              <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sz="2500">
                <a:solidFill>
                  <a:srgbClr val="192325"/>
                </a:solidFill>
              </a:rPr>
              <a:t>What are the next steps for your solution?</a:t>
            </a:r>
            <a:endParaRPr sz="2500">
              <a:solidFill>
                <a:srgbClr val="192325"/>
              </a:solidFill>
            </a:endParaRPr>
          </a:p>
          <a:p>
            <a:pPr indent="0" lvl="0" marL="0" rtl="0" algn="l">
              <a:spcBef>
                <a:spcPts val="1000"/>
              </a:spcBef>
              <a:spcAft>
                <a:spcPts val="0"/>
              </a:spcAft>
              <a:buNone/>
            </a:pPr>
            <a:r>
              <a:t/>
            </a:r>
            <a:endParaRPr/>
          </a:p>
        </p:txBody>
      </p:sp>
      <p:sp>
        <p:nvSpPr>
          <p:cNvPr id="121" name="Google Shape;121;p24"/>
          <p:cNvSpPr txBox="1"/>
          <p:nvPr>
            <p:ph idx="1" type="body"/>
          </p:nvPr>
        </p:nvSpPr>
        <p:spPr>
          <a:xfrm>
            <a:off x="311700" y="1152475"/>
            <a:ext cx="8520600" cy="3416400"/>
          </a:xfrm>
          <a:prstGeom prst="rect">
            <a:avLst/>
          </a:prstGeom>
          <a:gradFill>
            <a:gsLst>
              <a:gs pos="0">
                <a:srgbClr val="D4E5F5"/>
              </a:gs>
              <a:gs pos="100000">
                <a:srgbClr val="70A4D5"/>
              </a:gs>
            </a:gsLst>
            <a:path path="circle">
              <a:fillToRect b="50%" l="50%" r="50%" t="50%"/>
            </a:path>
            <a:tileRect/>
          </a:gradFill>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As a team:</a:t>
            </a:r>
            <a:r>
              <a:rPr lang="en" sz="1500">
                <a:solidFill>
                  <a:schemeClr val="dk1"/>
                </a:solidFill>
              </a:rPr>
              <a:t> Our next steps are to enhance the user interface by developing a more polished web-based platform and eventually expanding the solution into a portable, easily accessible mobile application. </a:t>
            </a:r>
            <a:endParaRPr sz="1500">
              <a:solidFill>
                <a:schemeClr val="dk1"/>
              </a:solidFill>
            </a:endParaRPr>
          </a:p>
          <a:p>
            <a:pPr indent="0" lvl="0" marL="0" rtl="0" algn="l">
              <a:spcBef>
                <a:spcPts val="1200"/>
              </a:spcBef>
              <a:spcAft>
                <a:spcPts val="0"/>
              </a:spcAft>
              <a:buNone/>
            </a:pPr>
            <a:r>
              <a:rPr lang="en" sz="1500">
                <a:solidFill>
                  <a:schemeClr val="dk1"/>
                </a:solidFill>
              </a:rPr>
              <a:t>We also plan to integrate an LLM to move beyond a fixed question-and-answer model, allowing the app to provide more dynamic, personalized, and human-like support. </a:t>
            </a:r>
            <a:endParaRPr sz="1500">
              <a:solidFill>
                <a:schemeClr val="dk1"/>
              </a:solidFill>
            </a:endParaRPr>
          </a:p>
          <a:p>
            <a:pPr indent="0" lvl="0" marL="0" rtl="0" algn="l">
              <a:spcBef>
                <a:spcPts val="1200"/>
              </a:spcBef>
              <a:spcAft>
                <a:spcPts val="1200"/>
              </a:spcAft>
              <a:buClr>
                <a:schemeClr val="dk1"/>
              </a:buClr>
              <a:buSzPts val="1100"/>
              <a:buFont typeface="Arial"/>
              <a:buNone/>
            </a:pPr>
            <a:r>
              <a:rPr lang="en" sz="1500">
                <a:solidFill>
                  <a:schemeClr val="dk1"/>
                </a:solidFill>
              </a:rPr>
              <a:t>In the long term, we hope to expand the solution beyond GIS and make it a valuable advising resource for CS, CIS, and eventually all BMCC students across different majors.</a:t>
            </a:r>
            <a:endParaRPr sz="1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